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Case Study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886"/>
                </a:solidFill>
                <a:latin typeface="Arial"/>
              </a:rPr>
              <a:t>Closing the Drop-Off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11110"/>
                </a:solidFill>
                <a:latin typeface="Arial"/>
              </a:rPr>
              <a:t>How AI Reshaped the Quote*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828800" cy="82296"/>
          </a:xfrm>
          <a:prstGeom prst="rect">
            <a:avLst/>
          </a:prstGeom>
          <a:solidFill>
            <a:srgbClr val="92E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6"/>
                </a:solidFill>
                <a:latin typeface="Arial"/>
              </a:rPr>
              <a:t>* Quote — a cost estimate generated before submitting a patent 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Role: Lead Product Designer   |   Team: 1 designer, 1 PM, 2 engineers   |   Status: Live, measured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11110"/>
                </a:solidFill>
                <a:latin typeface="Arial"/>
              </a:rPr>
              <a:t>40% -&gt; 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6"/>
                </a:solidFill>
                <a:latin typeface="Arial"/>
              </a:rPr>
              <a:t>Quote abandonment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3774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0"/>
                </a:solidFill>
                <a:latin typeface="Arial"/>
              </a:rPr>
              <a:t>Every filing at Azami Global starts with a quote. It was also where 40% of them died.
Our users — paralegals managing high-stakes patent filings — aren't unfamiliar with software, but they were unfamiliar with AI making suggestions in their workflow, and their job leaves no room for a wrong guess.
We designed for accountability first, automation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594360"/>
            <a:ext cx="5943600" cy="5669280"/>
          </a:xfrm>
          <a:prstGeom prst="rect">
            <a:avLst/>
          </a:prstGeom>
          <a:solidFill>
            <a:srgbClr val="E2E2DE"/>
          </a:solidFill>
          <a:ln w="952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758952"/>
            <a:ext cx="5614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VIDEO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3872" y="1051560"/>
            <a:ext cx="5614416" cy="6350"/>
          </a:xfrm>
          <a:prstGeom prst="rect">
            <a:avLst/>
          </a:prstGeom>
          <a:solidFill>
            <a:srgbClr val="CC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6"/>
                </a:solidFill>
                <a:latin typeface="Arial"/>
              </a:rPr>
              <a:t>Patent number entered -&gt; fields fill one by one -&gt; AI-suggested regions appear -&gt; end card showing 40% -&gt; 7% abandonment drop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01 — What AI Does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0"/>
                </a:solidFill>
                <a:latin typeface="Arial"/>
              </a:rPr>
              <a:t>What AI does here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0"/>
                </a:solidFill>
                <a:latin typeface="Arial"/>
              </a:rPr>
              <a:t>Beyond filling in known details, AI predicts the filing regions most commonly used for this type of patent, based on historical filings — not a static rule, a pattern read from precedent.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6"/>
                </a:solidFill>
                <a:latin typeface="Arial"/>
              </a:rPr>
              <a:t>AI capabilities (confirm which apply):
  *  Predicted regions by classification
  *  Estimated cost range before full quote
  *  Associate firms ranked by track record
  *  Flag unusually complex filings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3492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4864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Arial"/>
              </a:rPr>
              <a:t>The rule: AI owns anything a computer can infer from precedent. The paralegal owns anything that requires professional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5943600" cy="3474720"/>
          </a:xfrm>
          <a:prstGeom prst="rect">
            <a:avLst/>
          </a:prstGeom>
          <a:solidFill>
            <a:srgbClr val="E2E2DE"/>
          </a:solidFill>
          <a:ln w="952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856232"/>
            <a:ext cx="5614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2148840"/>
            <a:ext cx="5614416" cy="6350"/>
          </a:xfrm>
          <a:prstGeom prst="rect">
            <a:avLst/>
          </a:prstGeom>
          <a:solidFill>
            <a:srgbClr val="CC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6"/>
                </a:solidFill>
                <a:latin typeface="Arial"/>
              </a:rPr>
              <a:t>Region step of the quote wizard — "AI Suggested" badge in focus, showing predicted filing regions for a specific patent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02 — The Hard Part: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0"/>
                </a:solidFill>
                <a:latin typeface="Arial"/>
              </a:rPr>
              <a:t>The hard part: trust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6"/>
                </a:solidFill>
                <a:latin typeface="Arial"/>
              </a:rPr>
              <a:t>A wrong AI suggestion is not a UX inconvenience — it is a legal filing error with real cost. The design problem was not generating a suggestion. It was earning the right to be trusted with one, by someone whose job is to catch exactly this kind of mistake.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3756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Decision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587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0"/>
                </a:solidFill>
                <a:latin typeface="Arial"/>
              </a:rPr>
              <a:t>Plain-language reasoning, not a confidence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0"/>
                </a:solidFill>
                <a:latin typeface="Arial"/>
              </a:rPr>
              <a:t>A statistical score demands a mental model paralegals don't use day to day. A one-line reason — "based on similar filings in this classification" — matches how they already justify a call to a partner.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337560"/>
            <a:ext cx="5943600" cy="3246120"/>
          </a:xfrm>
          <a:prstGeom prst="rect">
            <a:avLst/>
          </a:prstGeom>
          <a:solidFill>
            <a:srgbClr val="E2E2DE"/>
          </a:solidFill>
          <a:ln w="952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3502152"/>
            <a:ext cx="5614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3794760"/>
            <a:ext cx="5614416" cy="6350"/>
          </a:xfrm>
          <a:prstGeom prst="rect">
            <a:avLst/>
          </a:prstGeom>
          <a:solidFill>
            <a:srgbClr val="CC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5577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6"/>
                </a:solidFill>
                <a:latin typeface="Arial"/>
              </a:rPr>
              <a:t>"Why" tooltip open on an AI-suggested region — reasoning in plain language: "based on similar filings in this classification"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02 — The Hard Part: Trust (cont.)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7772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Decision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110"/>
                </a:solidFill>
                <a:latin typeface="Arial"/>
              </a:rPr>
              <a:t>Field-level override, not an accept/reject toggle.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0"/>
                </a:solidFill>
                <a:latin typeface="Arial"/>
              </a:rPr>
              <a:t>Correcting one suggestion shouldn't cost the other four. This mirrors how a paralegal already reviews a colleague's draft — fix what's wrong, keep what's right, stay the final authority.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777240"/>
            <a:ext cx="5943600" cy="3657600"/>
          </a:xfrm>
          <a:prstGeom prst="rect">
            <a:avLst/>
          </a:prstGeom>
          <a:solidFill>
            <a:srgbClr val="E2E2DE"/>
          </a:solidFill>
          <a:ln w="952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2" y="941832"/>
            <a:ext cx="5614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192" y="1234440"/>
            <a:ext cx="5614416" cy="6350"/>
          </a:xfrm>
          <a:prstGeom prst="rect">
            <a:avLst/>
          </a:prstGeom>
          <a:solidFill>
            <a:srgbClr val="CC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6"/>
                </a:solidFill>
                <a:latin typeface="Arial"/>
              </a:rPr>
              <a:t>Before: all 5 regions AI-suggested. After: one region manually corrected (edited field state), all other suggestions left untouched — showing field-level override in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03 — Everything Else, Cleared Out of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110"/>
                </a:solidFill>
                <a:latin typeface="Arial"/>
              </a:rPr>
              <a:t>Everything else,
cleared out of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6"/>
                </a:solidFill>
                <a:latin typeface="Arial"/>
              </a:rPr>
              <a:t>One continuous flow instead of two disconnected steps. Cost visible early, not just at the end. Associates compared side by side. A review step before anything is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594360"/>
            <a:ext cx="3017520" cy="2560320"/>
          </a:xfrm>
          <a:prstGeom prst="rect">
            <a:avLst/>
          </a:prstGeom>
          <a:solidFill>
            <a:srgbClr val="E2E2DE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731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0"/>
                </a:solidFill>
                <a:latin typeface="Arial"/>
              </a:rPr>
              <a:t>One Continuous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124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463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6"/>
                </a:solidFill>
                <a:latin typeface="Arial"/>
              </a:rPr>
              <a:t>Enter patent -&gt; AI fills details -&gt; Select regions -&gt; Compare associates -&gt; Review &amp; confirm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594360"/>
            <a:ext cx="3017520" cy="2560320"/>
          </a:xfrm>
          <a:prstGeom prst="rect">
            <a:avLst/>
          </a:prstGeom>
          <a:solidFill>
            <a:srgbClr val="E2E2DE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731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0"/>
                </a:solidFill>
                <a:latin typeface="Arial"/>
              </a:rPr>
              <a:t>Cost Visible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124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63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6"/>
                </a:solidFill>
                <a:latin typeface="Arial"/>
              </a:rPr>
              <a:t>Estimated cost range shown at region selection step, not hidden until the final quote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337560"/>
            <a:ext cx="3017520" cy="2560320"/>
          </a:xfrm>
          <a:prstGeom prst="rect">
            <a:avLst/>
          </a:prstGeom>
          <a:solidFill>
            <a:srgbClr val="E2E2DE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0"/>
                </a:solidFill>
                <a:latin typeface="Arial"/>
              </a:rPr>
              <a:t>Associates Side by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867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2062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6"/>
                </a:solidFill>
                <a:latin typeface="Arial"/>
              </a:rPr>
              <a:t>Associates ranked by track record for this filing type — compared in a scannable table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3337560"/>
            <a:ext cx="3017520" cy="2560320"/>
          </a:xfrm>
          <a:prstGeom prst="rect">
            <a:avLst/>
          </a:prstGeom>
          <a:solidFill>
            <a:srgbClr val="E2E2DE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0"/>
                </a:solidFill>
                <a:latin typeface="Arial"/>
              </a:rPr>
              <a:t>Human Review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867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062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6"/>
                </a:solidFill>
                <a:latin typeface="Arial"/>
              </a:rPr>
              <a:t>Full review screen before submission — all details visible, last check always human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04 —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0"/>
                </a:solidFill>
                <a:latin typeface="Arial"/>
              </a:rPr>
              <a:t>The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0"/>
                </a:solidFill>
                <a:latin typeface="Arial"/>
              </a:rPr>
              <a:t>40%-&gt;7%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Quote abandonment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0"/>
                </a:solidFill>
                <a:latin typeface="Arial"/>
              </a:rPr>
              <a:t>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Faster to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0"/>
                </a:solidFill>
                <a:latin typeface="Arial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Completion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0"/>
                </a:solidFill>
                <a:latin typeface="Arial"/>
              </a:rPr>
              <a:t>3.2x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More quotes/week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38328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3520440"/>
            <a:ext cx="10972800" cy="3017520"/>
          </a:xfrm>
          <a:prstGeom prst="rect">
            <a:avLst/>
          </a:prstGeom>
          <a:solidFill>
            <a:srgbClr val="E2E2DE"/>
          </a:solidFill>
          <a:ln w="952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85032"/>
            <a:ext cx="10643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6"/>
                </a:solidFill>
                <a:latin typeface="Arial"/>
              </a:rPr>
              <a:t>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3977640"/>
            <a:ext cx="10643616" cy="6350"/>
          </a:xfrm>
          <a:prstGeom prst="rect">
            <a:avLst/>
          </a:prstGeom>
          <a:solidFill>
            <a:srgbClr val="CC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6"/>
                </a:solidFill>
                <a:latin typeface="Arial"/>
              </a:rPr>
              <a:t>Bold stat treatment — large typography showing 40 -&gt; 7, animated counter if possible; clean treatment that pairs with the portfolio aesthetic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6"/>
                </a:solidFill>
                <a:latin typeface="Arial"/>
              </a:rPr>
              <a:t>05 — What It Taught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0"/>
                </a:solidFill>
                <a:latin typeface="Arial"/>
              </a:rPr>
              <a:t>What it taught 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0908792" cy="0"/>
          </a:xfrm>
          <a:prstGeom prst="line">
            <a:avLst/>
          </a:prstGeom>
          <a:ln w="6350">
            <a:solidFill>
              <a:srgbClr val="CCCC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6"/>
                </a:solidFill>
                <a:latin typeface="Arial"/>
              </a:rPr>
              <a:t>Write 1-2 sentences here in your own voice.
What did you learn about designing AI for someone whose job is to be the last line of defense against error?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