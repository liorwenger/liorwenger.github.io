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oppins"/>
      <p:regular r:id="rId26"/>
      <p:bold r:id="rId27"/>
      <p:italic r:id="rId28"/>
      <p:boldItalic r:id="rId29"/>
    </p:embeddedFont>
    <p:embeddedFont>
      <p:font typeface="Poppins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slide" Target="slides/slide20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ExtraBold-boldItalic.fntdata"/><Relationship Id="rId30" Type="http://schemas.openxmlformats.org/officeDocument/2006/relationships/font" Target="fonts/Poppins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79416628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79416628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794166289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79416628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794166289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794166289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79416628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79416628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794166289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79416628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79416628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79416628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794166289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794166289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794166289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794166289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794166289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794166289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794166289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794166289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794166289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794166289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794166289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794166289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794166289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794166289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794166289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794166289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794166289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794166289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794166289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794166289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794166289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794166289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794166289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794166289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794166289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c794166289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794166289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794166289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2400"/>
            <a:ext cx="9144003" cy="31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49750" y="1060688"/>
            <a:ext cx="8644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Renewals System Redesign</a:t>
            </a:r>
            <a:endParaRPr sz="43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4900" y="3867913"/>
            <a:ext cx="8644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Redesigning for Clarity, Efficiency, &amp; User Satisfaction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97200" y="473388"/>
            <a:ext cx="8644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Current Design</a:t>
            </a:r>
            <a:endParaRPr sz="25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725" y="1289988"/>
            <a:ext cx="7249449" cy="3472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7625" y="-38100"/>
            <a:ext cx="1531500" cy="51891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2514650" y="342900"/>
            <a:ext cx="4317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ZedView Challenge</a:t>
            </a:r>
            <a:endParaRPr sz="25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794375" y="0"/>
            <a:ext cx="94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rgbClr val="DAFE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*</a:t>
            </a:r>
            <a:endParaRPr sz="10000">
              <a:solidFill>
                <a:srgbClr val="DAFE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007700" y="1106150"/>
            <a:ext cx="6161100" cy="3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Current Implementation:</a:t>
            </a:r>
            <a:endParaRPr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Third-party datatable developed by Abra 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Native to Salesforce but with </a:t>
            </a:r>
            <a:r>
              <a:rPr lang="en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significant limitations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Key Limitations:</a:t>
            </a:r>
            <a:endParaRPr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Closed source with limited customization options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Only exports to CSV (insufficient for some clients)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multi-language functionality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AFE81"/>
                </a:solidFill>
                <a:latin typeface="Poppins"/>
                <a:ea typeface="Poppins"/>
                <a:cs typeface="Poppins"/>
                <a:sym typeface="Poppins"/>
              </a:rPr>
              <a:t>Outdated interface with column width issues</a:t>
            </a:r>
            <a:endParaRPr>
              <a:solidFill>
                <a:srgbClr val="DAFE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2156325" y="2213575"/>
            <a:ext cx="217200" cy="434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DAF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 rot="-5400000">
            <a:off x="-1945200" y="2106275"/>
            <a:ext cx="5196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Background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-7625" y="-38100"/>
            <a:ext cx="1531500" cy="51891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 rot="-5400000">
            <a:off x="-1929900" y="2106325"/>
            <a:ext cx="5166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Pain points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007700" y="342900"/>
            <a:ext cx="4317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Table Readability</a:t>
            </a:r>
            <a:endParaRPr sz="25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794375" y="0"/>
            <a:ext cx="94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rgbClr val="DAFE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*</a:t>
            </a:r>
            <a:endParaRPr sz="10000">
              <a:solidFill>
                <a:srgbClr val="DAFE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007700" y="2028150"/>
            <a:ext cx="6161100" cy="23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Column titles are </a:t>
            </a:r>
            <a:r>
              <a:rPr lang="en" u="sng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truncated</a:t>
            </a: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Visual hierarchy is lacking to guide the eye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*This forces users to </a:t>
            </a:r>
            <a:r>
              <a:rPr lang="en" u="sng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waste time</a:t>
            </a: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repeatedly adjusting the interface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*It makes scanning for specific information much more difficult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*It creates </a:t>
            </a:r>
            <a:r>
              <a:rPr lang="en" u="sng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cognitive load</a:t>
            </a: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as users have to mentally fill in truncated information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156325" y="2788900"/>
            <a:ext cx="217200" cy="4344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DAF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950" y="1041350"/>
            <a:ext cx="6016595" cy="4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-7625" y="-38100"/>
            <a:ext cx="1531500" cy="51891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2657350" y="342900"/>
            <a:ext cx="4317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Visibility</a:t>
            </a:r>
            <a:endParaRPr sz="25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1794375" y="0"/>
            <a:ext cx="94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rgbClr val="DAFE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*</a:t>
            </a:r>
            <a:endParaRPr sz="10000">
              <a:solidFill>
                <a:srgbClr val="DAFE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2007700" y="1106150"/>
            <a:ext cx="61611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visual differentiation between urgent and non-urgent items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Difficult to quickly identify renewals requiring immediate attention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 rot="-5400000">
            <a:off x="-1929900" y="2106325"/>
            <a:ext cx="5166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Pain points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650" y="2651850"/>
            <a:ext cx="7315325" cy="1897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-7625" y="-38100"/>
            <a:ext cx="1531500" cy="51891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2657350" y="342900"/>
            <a:ext cx="4317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Action Framework</a:t>
            </a:r>
            <a:endParaRPr sz="25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1794375" y="0"/>
            <a:ext cx="94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rgbClr val="DAFE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*</a:t>
            </a:r>
            <a:endParaRPr sz="10000">
              <a:solidFill>
                <a:srgbClr val="DAFE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2007700" y="1014725"/>
            <a:ext cx="65877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Too many action buttons visible simultaneously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clear indication of primary actions versus secondary options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logical grouping of related actions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 rot="-5400000">
            <a:off x="-1929900" y="2106325"/>
            <a:ext cx="5166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Pain points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650" y="2651850"/>
            <a:ext cx="7315325" cy="189707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4343400" y="2354600"/>
            <a:ext cx="4716900" cy="845700"/>
          </a:xfrm>
          <a:prstGeom prst="rect">
            <a:avLst/>
          </a:prstGeom>
          <a:noFill/>
          <a:ln cap="flat" cmpd="sng" w="19050">
            <a:solidFill>
              <a:srgbClr val="FF58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improve table readability &amp; column persistence?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650" y="2767589"/>
            <a:ext cx="8009902" cy="1098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650" y="1520809"/>
            <a:ext cx="8009899" cy="38555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sp>
        <p:nvSpPr>
          <p:cNvPr id="114" name="Google Shape;114;p19"/>
          <p:cNvSpPr/>
          <p:nvPr/>
        </p:nvSpPr>
        <p:spPr>
          <a:xfrm>
            <a:off x="4372725" y="2157863"/>
            <a:ext cx="217200" cy="434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19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9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25" y="1388464"/>
            <a:ext cx="8009902" cy="109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improve table readability &amp; column persistence?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125" name="Google Shape;125;p20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0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25" y="1388464"/>
            <a:ext cx="8009902" cy="10989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21"/>
          <p:cNvGrpSpPr/>
          <p:nvPr/>
        </p:nvGrpSpPr>
        <p:grpSpPr>
          <a:xfrm>
            <a:off x="594925" y="3106869"/>
            <a:ext cx="2413500" cy="1529131"/>
            <a:chOff x="594925" y="3106869"/>
            <a:chExt cx="2413500" cy="1529131"/>
          </a:xfrm>
        </p:grpSpPr>
        <p:sp>
          <p:nvSpPr>
            <p:cNvPr id="133" name="Google Shape;133;p21"/>
            <p:cNvSpPr txBox="1"/>
            <p:nvPr/>
          </p:nvSpPr>
          <p:spPr>
            <a:xfrm>
              <a:off x="594925" y="3833225"/>
              <a:ext cx="223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AFE81"/>
                  </a:solidFill>
                  <a:latin typeface="Poppins"/>
                  <a:ea typeface="Poppins"/>
                  <a:cs typeface="Poppins"/>
                  <a:sym typeface="Poppins"/>
                </a:rPr>
                <a:t>Removed Columns</a:t>
              </a:r>
              <a:endParaRPr b="1" sz="1500">
                <a:solidFill>
                  <a:srgbClr val="DAFE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594925" y="4143400"/>
              <a:ext cx="241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Eliminated non-essential information to reduce visual clutter</a:t>
              </a:r>
              <a:endPara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35" name="Google Shape;13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43963" y="3106869"/>
              <a:ext cx="671225" cy="671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21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improve table readability &amp; column persistence?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139" name="Google Shape;139;p21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1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25" y="1388464"/>
            <a:ext cx="8009902" cy="10989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22"/>
          <p:cNvGrpSpPr/>
          <p:nvPr/>
        </p:nvGrpSpPr>
        <p:grpSpPr>
          <a:xfrm>
            <a:off x="594925" y="3106869"/>
            <a:ext cx="2413500" cy="1529131"/>
            <a:chOff x="594925" y="3106869"/>
            <a:chExt cx="2413500" cy="1529131"/>
          </a:xfrm>
        </p:grpSpPr>
        <p:sp>
          <p:nvSpPr>
            <p:cNvPr id="147" name="Google Shape;147;p22"/>
            <p:cNvSpPr txBox="1"/>
            <p:nvPr/>
          </p:nvSpPr>
          <p:spPr>
            <a:xfrm>
              <a:off x="594925" y="3833225"/>
              <a:ext cx="223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AFE81"/>
                  </a:solidFill>
                  <a:latin typeface="Poppins"/>
                  <a:ea typeface="Poppins"/>
                  <a:cs typeface="Poppins"/>
                  <a:sym typeface="Poppins"/>
                </a:rPr>
                <a:t>Removed Columns</a:t>
              </a:r>
              <a:endParaRPr b="1" sz="1500">
                <a:solidFill>
                  <a:srgbClr val="DAFE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22"/>
            <p:cNvSpPr txBox="1"/>
            <p:nvPr/>
          </p:nvSpPr>
          <p:spPr>
            <a:xfrm>
              <a:off x="594925" y="4143400"/>
              <a:ext cx="241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Eliminated non-essential information to reduce visual clutter</a:t>
              </a:r>
              <a:endPara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49" name="Google Shape;149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43963" y="3106869"/>
              <a:ext cx="671225" cy="671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22"/>
          <p:cNvSpPr/>
          <p:nvPr/>
        </p:nvSpPr>
        <p:spPr>
          <a:xfrm>
            <a:off x="555625" y="1576250"/>
            <a:ext cx="1341600" cy="416100"/>
          </a:xfrm>
          <a:prstGeom prst="rect">
            <a:avLst/>
          </a:prstGeom>
          <a:noFill/>
          <a:ln cap="flat" cmpd="sng" w="19050">
            <a:solidFill>
              <a:srgbClr val="FF00F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3508375" y="1576250"/>
            <a:ext cx="1341600" cy="416100"/>
          </a:xfrm>
          <a:prstGeom prst="rect">
            <a:avLst/>
          </a:prstGeom>
          <a:noFill/>
          <a:ln cap="flat" cmpd="sng" w="19050">
            <a:solidFill>
              <a:srgbClr val="FF00F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22"/>
          <p:cNvGrpSpPr/>
          <p:nvPr/>
        </p:nvGrpSpPr>
        <p:grpSpPr>
          <a:xfrm>
            <a:off x="3326700" y="3108725"/>
            <a:ext cx="2490600" cy="1681175"/>
            <a:chOff x="3326700" y="3108725"/>
            <a:chExt cx="2490600" cy="1681175"/>
          </a:xfrm>
        </p:grpSpPr>
        <p:sp>
          <p:nvSpPr>
            <p:cNvPr id="153" name="Google Shape;153;p22"/>
            <p:cNvSpPr txBox="1"/>
            <p:nvPr/>
          </p:nvSpPr>
          <p:spPr>
            <a:xfrm>
              <a:off x="3326700" y="3833225"/>
              <a:ext cx="2490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AFE81"/>
                  </a:solidFill>
                  <a:latin typeface="Poppins"/>
                  <a:ea typeface="Poppins"/>
                  <a:cs typeface="Poppins"/>
                  <a:sym typeface="Poppins"/>
                </a:rPr>
                <a:t>Combined related data</a:t>
              </a:r>
              <a:endParaRPr b="1" sz="1500">
                <a:solidFill>
                  <a:srgbClr val="DAFE8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rgbClr val="DAFE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22"/>
            <p:cNvSpPr txBox="1"/>
            <p:nvPr/>
          </p:nvSpPr>
          <p:spPr>
            <a:xfrm>
              <a:off x="3326700" y="4143400"/>
              <a:ext cx="2231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Merged related information for better scanning</a:t>
              </a:r>
              <a:endPara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55" name="Google Shape;155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38250" y="3108725"/>
              <a:ext cx="667512" cy="6675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2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improve table readability &amp; column persistence?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159" name="Google Shape;159;p22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2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25" y="1388464"/>
            <a:ext cx="8009902" cy="10989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23"/>
          <p:cNvGrpSpPr/>
          <p:nvPr/>
        </p:nvGrpSpPr>
        <p:grpSpPr>
          <a:xfrm>
            <a:off x="594925" y="3106869"/>
            <a:ext cx="2413500" cy="1529131"/>
            <a:chOff x="594925" y="3106869"/>
            <a:chExt cx="2413500" cy="1529131"/>
          </a:xfrm>
        </p:grpSpPr>
        <p:sp>
          <p:nvSpPr>
            <p:cNvPr id="167" name="Google Shape;167;p23"/>
            <p:cNvSpPr txBox="1"/>
            <p:nvPr/>
          </p:nvSpPr>
          <p:spPr>
            <a:xfrm>
              <a:off x="594925" y="3833225"/>
              <a:ext cx="223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Removed Columns</a:t>
              </a:r>
              <a:endParaRPr b="1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23"/>
            <p:cNvSpPr txBox="1"/>
            <p:nvPr/>
          </p:nvSpPr>
          <p:spPr>
            <a:xfrm>
              <a:off x="594925" y="4143400"/>
              <a:ext cx="241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Eliminated non-essential information to reduce visual clutter</a:t>
              </a:r>
              <a:endPara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69" name="Google Shape;169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43963" y="3106869"/>
              <a:ext cx="671225" cy="671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" name="Google Shape;170;p23"/>
          <p:cNvGrpSpPr/>
          <p:nvPr/>
        </p:nvGrpSpPr>
        <p:grpSpPr>
          <a:xfrm>
            <a:off x="3326700" y="3108725"/>
            <a:ext cx="2490600" cy="1681175"/>
            <a:chOff x="3326700" y="3108725"/>
            <a:chExt cx="2490600" cy="1681175"/>
          </a:xfrm>
        </p:grpSpPr>
        <p:sp>
          <p:nvSpPr>
            <p:cNvPr id="171" name="Google Shape;171;p23"/>
            <p:cNvSpPr txBox="1"/>
            <p:nvPr/>
          </p:nvSpPr>
          <p:spPr>
            <a:xfrm>
              <a:off x="3326700" y="3833225"/>
              <a:ext cx="2490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Combined related data</a:t>
              </a:r>
              <a:endParaRPr b="1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rgbClr val="DAFE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23"/>
            <p:cNvSpPr txBox="1"/>
            <p:nvPr/>
          </p:nvSpPr>
          <p:spPr>
            <a:xfrm>
              <a:off x="3326700" y="4143400"/>
              <a:ext cx="2231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Merged related information for better scanning</a:t>
              </a:r>
              <a:endPara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73" name="Google Shape;17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38250" y="3108725"/>
              <a:ext cx="667512" cy="66751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p23"/>
          <p:cNvGrpSpPr/>
          <p:nvPr/>
        </p:nvGrpSpPr>
        <p:grpSpPr>
          <a:xfrm>
            <a:off x="6743300" y="3108725"/>
            <a:ext cx="3369119" cy="1698350"/>
            <a:chOff x="6743300" y="3108725"/>
            <a:chExt cx="3369119" cy="1698350"/>
          </a:xfrm>
        </p:grpSpPr>
        <p:sp>
          <p:nvSpPr>
            <p:cNvPr id="175" name="Google Shape;175;p23"/>
            <p:cNvSpPr txBox="1"/>
            <p:nvPr/>
          </p:nvSpPr>
          <p:spPr>
            <a:xfrm>
              <a:off x="7608919" y="4468375"/>
              <a:ext cx="250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23"/>
            <p:cNvSpPr txBox="1"/>
            <p:nvPr/>
          </p:nvSpPr>
          <p:spPr>
            <a:xfrm>
              <a:off x="6743300" y="4108150"/>
              <a:ext cx="1654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All the pricing info in one place </a:t>
              </a:r>
              <a:endParaRPr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23"/>
            <p:cNvSpPr txBox="1"/>
            <p:nvPr/>
          </p:nvSpPr>
          <p:spPr>
            <a:xfrm>
              <a:off x="6859875" y="3833225"/>
              <a:ext cx="10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6            1</a:t>
              </a:r>
              <a:endParaRPr b="1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7166850" y="3946463"/>
              <a:ext cx="285900" cy="1428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AF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9" name="Google Shape;179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998975" y="3108725"/>
              <a:ext cx="667512" cy="6675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23"/>
          <p:cNvSpPr/>
          <p:nvPr/>
        </p:nvSpPr>
        <p:spPr>
          <a:xfrm>
            <a:off x="6643700" y="1639750"/>
            <a:ext cx="809100" cy="304800"/>
          </a:xfrm>
          <a:prstGeom prst="rect">
            <a:avLst/>
          </a:prstGeom>
          <a:noFill/>
          <a:ln cap="flat" cmpd="sng" w="19050">
            <a:solidFill>
              <a:srgbClr val="FF00F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improve table readability &amp; column persistence?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184" name="Google Shape;184;p23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3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925" y="2013375"/>
            <a:ext cx="609650" cy="4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improve table readability &amp; column persistence?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194" name="Google Shape;194;p24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4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4">
            <a:alphaModFix/>
          </a:blip>
          <a:srcRect b="0" l="0" r="0" t="45814"/>
          <a:stretch/>
        </p:blipFill>
        <p:spPr>
          <a:xfrm>
            <a:off x="775875" y="1210854"/>
            <a:ext cx="7721600" cy="203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9825" y="2149625"/>
            <a:ext cx="2524150" cy="2684801"/>
          </a:xfrm>
          <a:prstGeom prst="rect">
            <a:avLst/>
          </a:prstGeom>
          <a:noFill/>
          <a:ln>
            <a:noFill/>
          </a:ln>
          <a:effectLst>
            <a:outerShdw blurRad="814388" rotWithShape="0" algn="bl" dir="17700000" dist="304800">
              <a:srgbClr val="000000">
                <a:alpha val="17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50" y="1227714"/>
            <a:ext cx="8009902" cy="109897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/>
          <p:nvPr/>
        </p:nvSpPr>
        <p:spPr>
          <a:xfrm>
            <a:off x="785825" y="1481000"/>
            <a:ext cx="516000" cy="304800"/>
          </a:xfrm>
          <a:prstGeom prst="rect">
            <a:avLst/>
          </a:prstGeom>
          <a:noFill/>
          <a:ln cap="flat" cmpd="sng" w="19050">
            <a:solidFill>
              <a:srgbClr val="DAFE8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 rot="-5400000">
            <a:off x="4522050" y="2740513"/>
            <a:ext cx="217200" cy="434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2322000" y="2701275"/>
            <a:ext cx="2021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Regions names 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5900" y="2833900"/>
            <a:ext cx="3429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3900" y="2833900"/>
            <a:ext cx="3429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1900" y="2833900"/>
            <a:ext cx="342900" cy="247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25"/>
          <p:cNvGrpSpPr/>
          <p:nvPr/>
        </p:nvGrpSpPr>
        <p:grpSpPr>
          <a:xfrm>
            <a:off x="1301825" y="3869025"/>
            <a:ext cx="8092150" cy="1109650"/>
            <a:chOff x="525925" y="3789650"/>
            <a:chExt cx="8092150" cy="1109650"/>
          </a:xfrm>
        </p:grpSpPr>
        <p:sp>
          <p:nvSpPr>
            <p:cNvPr id="210" name="Google Shape;210;p25"/>
            <p:cNvSpPr txBox="1"/>
            <p:nvPr/>
          </p:nvSpPr>
          <p:spPr>
            <a:xfrm>
              <a:off x="1438775" y="4006500"/>
              <a:ext cx="71793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DAFE81"/>
                  </a:solidFill>
                  <a:latin typeface="Poppins"/>
                  <a:ea typeface="Poppins"/>
                  <a:cs typeface="Poppins"/>
                  <a:sym typeface="Poppins"/>
                </a:rPr>
                <a:t>Immediate visual recognition without reading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25"/>
            <p:cNvSpPr txBox="1"/>
            <p:nvPr/>
          </p:nvSpPr>
          <p:spPr>
            <a:xfrm>
              <a:off x="696700" y="3789650"/>
              <a:ext cx="1047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/>
                <a:t>👍🏻</a:t>
              </a:r>
              <a:endParaRPr sz="5000"/>
            </a:p>
          </p:txBody>
        </p:sp>
        <p:sp>
          <p:nvSpPr>
            <p:cNvPr id="212" name="Google Shape;212;p25"/>
            <p:cNvSpPr/>
            <p:nvPr/>
          </p:nvSpPr>
          <p:spPr>
            <a:xfrm>
              <a:off x="525925" y="3833825"/>
              <a:ext cx="6532500" cy="846600"/>
            </a:xfrm>
            <a:prstGeom prst="rect">
              <a:avLst/>
            </a:prstGeom>
            <a:noFill/>
            <a:ln cap="flat" cmpd="sng" w="9525">
              <a:solidFill>
                <a:srgbClr val="DAF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25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organize information to reduce cognitive load?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14" name="Google Shape;214;p25"/>
          <p:cNvSpPr/>
          <p:nvPr/>
        </p:nvSpPr>
        <p:spPr>
          <a:xfrm rot="5400000">
            <a:off x="594175" y="-594300"/>
            <a:ext cx="891300" cy="20799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2123475" y="2888900"/>
            <a:ext cx="4480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sp>
        <p:nvSpPr>
          <p:cNvPr id="217" name="Google Shape;217;p25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219" name="Google Shape;219;p25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25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organize information to reduce cognitive load?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/>
          <p:nvPr/>
        </p:nvSpPr>
        <p:spPr>
          <a:xfrm rot="5400000">
            <a:off x="594175" y="-594300"/>
            <a:ext cx="891300" cy="20799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sp>
        <p:nvSpPr>
          <p:cNvPr id="228" name="Google Shape;228;p26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230" name="Google Shape;230;p26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6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organize information to reduce cognitive load?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33" name="Google Shape;233;p26"/>
          <p:cNvPicPr preferRelativeResize="0"/>
          <p:nvPr/>
        </p:nvPicPr>
        <p:blipFill>
          <a:blip r:embed="rId3">
            <a:alphaModFix amt="29000"/>
          </a:blip>
          <a:stretch>
            <a:fillRect/>
          </a:stretch>
        </p:blipFill>
        <p:spPr>
          <a:xfrm>
            <a:off x="853980" y="1341775"/>
            <a:ext cx="7183090" cy="134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 txBox="1"/>
          <p:nvPr/>
        </p:nvSpPr>
        <p:spPr>
          <a:xfrm>
            <a:off x="3232775" y="1779500"/>
            <a:ext cx="2694600" cy="471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85775" rotWithShape="0" algn="bl" dir="8340000" dist="66675">
              <a:srgbClr val="000000">
                <a:alpha val="5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two separate tables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4398075" y="2939200"/>
            <a:ext cx="446400" cy="892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"/>
          <p:cNvSpPr txBox="1"/>
          <p:nvPr/>
        </p:nvSpPr>
        <p:spPr>
          <a:xfrm>
            <a:off x="1076975" y="3983175"/>
            <a:ext cx="7179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AFE81"/>
                </a:solidFill>
                <a:latin typeface="Poppins"/>
                <a:ea typeface="Poppins"/>
                <a:cs typeface="Poppins"/>
                <a:sym typeface="Poppins"/>
              </a:rPr>
              <a:t>One single unified view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/>
          <p:nvPr/>
        </p:nvSpPr>
        <p:spPr>
          <a:xfrm rot="5400000">
            <a:off x="594175" y="-594300"/>
            <a:ext cx="891300" cy="20799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sp>
        <p:nvSpPr>
          <p:cNvPr id="243" name="Google Shape;243;p27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245" name="Google Shape;245;p27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7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organize information to reduce cognitive load?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48" name="Google Shape;248;p27"/>
          <p:cNvPicPr preferRelativeResize="0"/>
          <p:nvPr/>
        </p:nvPicPr>
        <p:blipFill rotWithShape="1">
          <a:blip r:embed="rId3">
            <a:alphaModFix/>
          </a:blip>
          <a:srcRect b="22622" l="5250" r="5321" t="5652"/>
          <a:stretch/>
        </p:blipFill>
        <p:spPr>
          <a:xfrm>
            <a:off x="1935750" y="1188363"/>
            <a:ext cx="5288627" cy="27667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7"/>
          <p:cNvGrpSpPr/>
          <p:nvPr/>
        </p:nvGrpSpPr>
        <p:grpSpPr>
          <a:xfrm>
            <a:off x="1535200" y="4074750"/>
            <a:ext cx="8092150" cy="1109650"/>
            <a:chOff x="525925" y="3789650"/>
            <a:chExt cx="8092150" cy="1109650"/>
          </a:xfrm>
        </p:grpSpPr>
        <p:sp>
          <p:nvSpPr>
            <p:cNvPr id="250" name="Google Shape;250;p27"/>
            <p:cNvSpPr/>
            <p:nvPr/>
          </p:nvSpPr>
          <p:spPr>
            <a:xfrm>
              <a:off x="525925" y="3833825"/>
              <a:ext cx="6257100" cy="846600"/>
            </a:xfrm>
            <a:prstGeom prst="rect">
              <a:avLst/>
            </a:prstGeom>
            <a:noFill/>
            <a:ln cap="flat" cmpd="sng" w="9525">
              <a:solidFill>
                <a:srgbClr val="DAF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7"/>
            <p:cNvSpPr txBox="1"/>
            <p:nvPr/>
          </p:nvSpPr>
          <p:spPr>
            <a:xfrm>
              <a:off x="1438775" y="4006500"/>
              <a:ext cx="71793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DAFE81"/>
                  </a:solidFill>
                  <a:latin typeface="Poppins"/>
                  <a:ea typeface="Poppins"/>
                  <a:cs typeface="Poppins"/>
                  <a:sym typeface="Poppins"/>
                </a:rPr>
                <a:t>Centralized operations in one coherent view</a:t>
              </a:r>
              <a:endParaRPr sz="1800">
                <a:solidFill>
                  <a:srgbClr val="DAFE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27"/>
            <p:cNvSpPr txBox="1"/>
            <p:nvPr/>
          </p:nvSpPr>
          <p:spPr>
            <a:xfrm>
              <a:off x="696700" y="3789650"/>
              <a:ext cx="1047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/>
                <a:t>👍🏻</a:t>
              </a:r>
              <a:endParaRPr sz="50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/>
          <p:nvPr/>
        </p:nvSpPr>
        <p:spPr>
          <a:xfrm rot="5400000">
            <a:off x="594175" y="-594300"/>
            <a:ext cx="891300" cy="20799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sp>
        <p:nvSpPr>
          <p:cNvPr id="259" name="Google Shape;259;p28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261" name="Google Shape;261;p28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8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63" name="Google Shape;263;p28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help users quickly identify priority renewals?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099" y="1287269"/>
            <a:ext cx="7507845" cy="174865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5810230" y="1164374"/>
            <a:ext cx="754800" cy="2005200"/>
          </a:xfrm>
          <a:prstGeom prst="rect">
            <a:avLst/>
          </a:prstGeom>
          <a:noFill/>
          <a:ln cap="flat" cmpd="sng" w="19050">
            <a:solidFill>
              <a:srgbClr val="FF00F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/>
        </p:nvSpPr>
        <p:spPr>
          <a:xfrm>
            <a:off x="3881050" y="3219063"/>
            <a:ext cx="477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* Created color-coded status system (red/yellow/green)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7" name="Google Shape;267;p28"/>
          <p:cNvGrpSpPr/>
          <p:nvPr/>
        </p:nvGrpSpPr>
        <p:grpSpPr>
          <a:xfrm>
            <a:off x="1301825" y="3869025"/>
            <a:ext cx="8092150" cy="1109650"/>
            <a:chOff x="525925" y="3789650"/>
            <a:chExt cx="8092150" cy="1109650"/>
          </a:xfrm>
        </p:grpSpPr>
        <p:sp>
          <p:nvSpPr>
            <p:cNvPr id="268" name="Google Shape;268;p28"/>
            <p:cNvSpPr/>
            <p:nvPr/>
          </p:nvSpPr>
          <p:spPr>
            <a:xfrm>
              <a:off x="525925" y="3833825"/>
              <a:ext cx="6532500" cy="846600"/>
            </a:xfrm>
            <a:prstGeom prst="rect">
              <a:avLst/>
            </a:prstGeom>
            <a:noFill/>
            <a:ln cap="flat" cmpd="sng" w="9525">
              <a:solidFill>
                <a:srgbClr val="DAF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8"/>
            <p:cNvSpPr txBox="1"/>
            <p:nvPr/>
          </p:nvSpPr>
          <p:spPr>
            <a:xfrm>
              <a:off x="1438775" y="4006500"/>
              <a:ext cx="71793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DAFE81"/>
                  </a:solidFill>
                  <a:latin typeface="Poppins"/>
                  <a:ea typeface="Poppins"/>
                  <a:cs typeface="Poppins"/>
                  <a:sym typeface="Poppins"/>
                </a:rPr>
                <a:t>Instant understanding of priorities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0" name="Google Shape;270;p28"/>
            <p:cNvSpPr txBox="1"/>
            <p:nvPr/>
          </p:nvSpPr>
          <p:spPr>
            <a:xfrm>
              <a:off x="696700" y="3789650"/>
              <a:ext cx="10476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/>
                <a:t>👍🏻</a:t>
              </a:r>
              <a:endParaRPr sz="50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/>
          <p:nvPr/>
        </p:nvSpPr>
        <p:spPr>
          <a:xfrm rot="5400000">
            <a:off x="594175" y="-594300"/>
            <a:ext cx="891300" cy="20799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9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sp>
        <p:nvSpPr>
          <p:cNvPr id="277" name="Google Shape;277;p29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279" name="Google Shape;279;p29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9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help users quickly identify priority renewals?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pSp>
        <p:nvGrpSpPr>
          <p:cNvPr id="282" name="Google Shape;282;p29"/>
          <p:cNvGrpSpPr/>
          <p:nvPr/>
        </p:nvGrpSpPr>
        <p:grpSpPr>
          <a:xfrm>
            <a:off x="1162800" y="4178200"/>
            <a:ext cx="6977600" cy="1054075"/>
            <a:chOff x="1385050" y="4178200"/>
            <a:chExt cx="6977600" cy="1054075"/>
          </a:xfrm>
        </p:grpSpPr>
        <p:sp>
          <p:nvSpPr>
            <p:cNvPr id="283" name="Google Shape;283;p29"/>
            <p:cNvSpPr/>
            <p:nvPr/>
          </p:nvSpPr>
          <p:spPr>
            <a:xfrm>
              <a:off x="1385050" y="4222375"/>
              <a:ext cx="6877800" cy="602400"/>
            </a:xfrm>
            <a:prstGeom prst="rect">
              <a:avLst/>
            </a:prstGeom>
            <a:noFill/>
            <a:ln cap="flat" cmpd="sng" w="9525">
              <a:solidFill>
                <a:srgbClr val="DAF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 txBox="1"/>
            <p:nvPr/>
          </p:nvSpPr>
          <p:spPr>
            <a:xfrm>
              <a:off x="1964550" y="4339475"/>
              <a:ext cx="63981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DAFE81"/>
                  </a:solidFill>
                  <a:latin typeface="Poppins"/>
                  <a:ea typeface="Poppins"/>
                  <a:cs typeface="Poppins"/>
                  <a:sym typeface="Poppins"/>
                </a:rPr>
                <a:t>Immediately see their workload distribution </a:t>
              </a:r>
              <a:r>
                <a:rPr lang="en" sz="1200" u="sng">
                  <a:solidFill>
                    <a:srgbClr val="DAFE8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without scanning the entire table</a:t>
              </a:r>
              <a:endParaRPr sz="1200" u="sng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285" name="Google Shape;285;p29"/>
            <p:cNvSpPr txBox="1"/>
            <p:nvPr/>
          </p:nvSpPr>
          <p:spPr>
            <a:xfrm>
              <a:off x="1476525" y="4178200"/>
              <a:ext cx="651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👍🏻</a:t>
              </a:r>
              <a:endParaRPr sz="3000"/>
            </a:p>
          </p:txBody>
        </p:sp>
      </p:grpSp>
      <p:pic>
        <p:nvPicPr>
          <p:cNvPr id="286" name="Google Shape;2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013" y="1133563"/>
            <a:ext cx="5935176" cy="2892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/>
          <p:nvPr/>
        </p:nvSpPr>
        <p:spPr>
          <a:xfrm rot="5400000">
            <a:off x="594175" y="-594300"/>
            <a:ext cx="891300" cy="20799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sp>
        <p:nvSpPr>
          <p:cNvPr id="293" name="Google Shape;293;p30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0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295" name="Google Shape;295;p30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0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create a clear action framework?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98" name="Google Shape;298;p30"/>
          <p:cNvPicPr preferRelativeResize="0"/>
          <p:nvPr/>
        </p:nvPicPr>
        <p:blipFill rotWithShape="1">
          <a:blip r:embed="rId3">
            <a:alphaModFix/>
          </a:blip>
          <a:srcRect b="15304" l="904" r="835" t="12337"/>
          <a:stretch/>
        </p:blipFill>
        <p:spPr>
          <a:xfrm>
            <a:off x="237575" y="1750188"/>
            <a:ext cx="8685001" cy="3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361" y="3435862"/>
            <a:ext cx="2798478" cy="4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/>
          <p:nvPr/>
        </p:nvSpPr>
        <p:spPr>
          <a:xfrm>
            <a:off x="4463400" y="2376775"/>
            <a:ext cx="446400" cy="8928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DAF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/>
          <p:nvPr/>
        </p:nvSpPr>
        <p:spPr>
          <a:xfrm rot="5400000">
            <a:off x="594175" y="-594300"/>
            <a:ext cx="891300" cy="20799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1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sp>
        <p:nvSpPr>
          <p:cNvPr id="307" name="Google Shape;307;p31"/>
          <p:cNvSpPr/>
          <p:nvPr/>
        </p:nvSpPr>
        <p:spPr>
          <a:xfrm rot="5400000">
            <a:off x="4134425" y="-4134150"/>
            <a:ext cx="891300" cy="9159600"/>
          </a:xfrm>
          <a:prstGeom prst="rect">
            <a:avLst/>
          </a:prstGeom>
          <a:solidFill>
            <a:srgbClr val="DAF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1"/>
          <p:cNvSpPr txBox="1"/>
          <p:nvPr/>
        </p:nvSpPr>
        <p:spPr>
          <a:xfrm>
            <a:off x="102075" y="261000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Design Approach</a:t>
            </a:r>
            <a:endParaRPr b="1" sz="1200"/>
          </a:p>
        </p:txBody>
      </p:sp>
      <p:cxnSp>
        <p:nvCxnSpPr>
          <p:cNvPr id="309" name="Google Shape;309;p31"/>
          <p:cNvCxnSpPr/>
          <p:nvPr/>
        </p:nvCxnSpPr>
        <p:spPr>
          <a:xfrm>
            <a:off x="2222500" y="111125"/>
            <a:ext cx="0" cy="66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31"/>
          <p:cNvSpPr txBox="1"/>
          <p:nvPr/>
        </p:nvSpPr>
        <p:spPr>
          <a:xfrm>
            <a:off x="4001225" y="-39687"/>
            <a:ext cx="88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4.</a:t>
            </a:r>
            <a:endParaRPr sz="5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4723150" y="88363"/>
            <a:ext cx="389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HMW create a clear action framework?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5130788" y="2485575"/>
            <a:ext cx="1787100" cy="1669200"/>
          </a:xfrm>
          <a:prstGeom prst="rect">
            <a:avLst/>
          </a:prstGeom>
          <a:noFill/>
          <a:ln cap="flat" cmpd="sng" w="19050">
            <a:solidFill>
              <a:srgbClr val="FF00F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7933838" y="2857500"/>
            <a:ext cx="626100" cy="1923300"/>
          </a:xfrm>
          <a:prstGeom prst="rect">
            <a:avLst/>
          </a:prstGeom>
          <a:noFill/>
          <a:ln cap="flat" cmpd="sng" w="19050">
            <a:solidFill>
              <a:srgbClr val="FF00F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31"/>
          <p:cNvPicPr preferRelativeResize="0"/>
          <p:nvPr/>
        </p:nvPicPr>
        <p:blipFill rotWithShape="1">
          <a:blip r:embed="rId3">
            <a:alphaModFix/>
          </a:blip>
          <a:srcRect b="0" l="44156" r="0" t="0"/>
          <a:stretch/>
        </p:blipFill>
        <p:spPr>
          <a:xfrm>
            <a:off x="4459487" y="1076975"/>
            <a:ext cx="4420726" cy="385752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1"/>
          <p:cNvSpPr txBox="1"/>
          <p:nvPr/>
        </p:nvSpPr>
        <p:spPr>
          <a:xfrm>
            <a:off x="449100" y="1696350"/>
            <a:ext cx="34743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Renamed primary button from "Pay" to "Renew" to match user goal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Created visual hierarchy between primary and secondary actions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275" y="1787050"/>
            <a:ext cx="94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DAFE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*</a:t>
            </a:r>
            <a:endParaRPr sz="5000">
              <a:solidFill>
                <a:srgbClr val="DAFE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317" name="Google Shape;317;p31"/>
          <p:cNvSpPr txBox="1"/>
          <p:nvPr/>
        </p:nvSpPr>
        <p:spPr>
          <a:xfrm>
            <a:off x="275" y="3026975"/>
            <a:ext cx="94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DAFE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*</a:t>
            </a:r>
            <a:endParaRPr sz="5000">
              <a:solidFill>
                <a:srgbClr val="DAFE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/>
        </p:nvSpPr>
        <p:spPr>
          <a:xfrm>
            <a:off x="367350" y="395175"/>
            <a:ext cx="4650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Product Update 27/3’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